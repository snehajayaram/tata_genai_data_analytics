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1A1F3-3522-4899-A869-51E579A16153}" v="50" dt="2025-07-28T13:51:44.179"/>
  </p1510:revLst>
</p1510:revInfo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166977"/>
            <a:ext cx="8368200" cy="12165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383526"/>
            <a:ext cx="8368200" cy="3458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000" b="1" dirty="0"/>
              <a:t>1. Inputs: Collected Customer Data</a:t>
            </a:r>
          </a:p>
          <a:p>
            <a:r>
              <a:rPr lang="en-US" sz="1000" b="1" dirty="0"/>
              <a:t>Demographics</a:t>
            </a:r>
            <a:r>
              <a:rPr lang="en-US" sz="1000" dirty="0"/>
              <a:t>: Age, Income, </a:t>
            </a:r>
            <a:r>
              <a:rPr lang="en-US" sz="1000" dirty="0" err="1"/>
              <a:t>Employment_Status</a:t>
            </a:r>
            <a:r>
              <a:rPr lang="en-US" sz="1000" dirty="0"/>
              <a:t>, Location</a:t>
            </a:r>
          </a:p>
          <a:p>
            <a:r>
              <a:rPr lang="en-US" sz="1000" b="1" dirty="0"/>
              <a:t>Credit Profile</a:t>
            </a:r>
            <a:r>
              <a:rPr lang="en-US" sz="1000" dirty="0"/>
              <a:t>: </a:t>
            </a:r>
            <a:r>
              <a:rPr lang="en-US" sz="1000" dirty="0" err="1"/>
              <a:t>Credit_Score</a:t>
            </a:r>
            <a:r>
              <a:rPr lang="en-US" sz="1000" dirty="0"/>
              <a:t>, </a:t>
            </a:r>
            <a:r>
              <a:rPr lang="en-US" sz="1000" dirty="0" err="1"/>
              <a:t>Credit_Utilization</a:t>
            </a:r>
            <a:r>
              <a:rPr lang="en-US" sz="1000" dirty="0"/>
              <a:t>, </a:t>
            </a:r>
            <a:r>
              <a:rPr lang="en-US" sz="1000" dirty="0" err="1"/>
              <a:t>Debt_to_Income_Ratio</a:t>
            </a:r>
            <a:endParaRPr lang="en-US" sz="1000" dirty="0"/>
          </a:p>
          <a:p>
            <a:r>
              <a:rPr lang="en-US" sz="1000" b="1" dirty="0"/>
              <a:t>Payment Behavior</a:t>
            </a:r>
            <a:r>
              <a:rPr lang="en-US" sz="1000" dirty="0"/>
              <a:t>: </a:t>
            </a:r>
            <a:r>
              <a:rPr lang="en-US" sz="1000" dirty="0" err="1"/>
              <a:t>Missed_Payments</a:t>
            </a:r>
            <a:r>
              <a:rPr lang="en-US" sz="1000" dirty="0"/>
              <a:t>, </a:t>
            </a:r>
            <a:r>
              <a:rPr lang="en-US" sz="1000" dirty="0" err="1"/>
              <a:t>Delinquent_Account</a:t>
            </a:r>
            <a:r>
              <a:rPr lang="en-US" sz="1000" dirty="0"/>
              <a:t>, </a:t>
            </a:r>
            <a:r>
              <a:rPr lang="en-US" sz="1000" dirty="0" err="1"/>
              <a:t>Account_Tenure</a:t>
            </a:r>
            <a:endParaRPr lang="en-US" sz="1000" dirty="0"/>
          </a:p>
          <a:p>
            <a:r>
              <a:rPr lang="en-US" sz="1000" b="1" dirty="0"/>
              <a:t>Loan Details</a:t>
            </a:r>
            <a:r>
              <a:rPr lang="en-US" sz="1000" dirty="0"/>
              <a:t>: </a:t>
            </a:r>
            <a:r>
              <a:rPr lang="en-US" sz="1000" dirty="0" err="1"/>
              <a:t>Loan_Balance</a:t>
            </a:r>
            <a:r>
              <a:rPr lang="en-US" sz="1000" dirty="0"/>
              <a:t>, </a:t>
            </a:r>
            <a:r>
              <a:rPr lang="en-US" sz="1000" dirty="0" err="1"/>
              <a:t>Credit_Card_Type</a:t>
            </a:r>
            <a:endParaRPr lang="en-US" sz="1000" dirty="0"/>
          </a:p>
          <a:p>
            <a:r>
              <a:rPr lang="en-US" sz="1000" b="1" dirty="0"/>
              <a:t>Payment History</a:t>
            </a:r>
            <a:r>
              <a:rPr lang="en-US" sz="1000" dirty="0"/>
              <a:t>: Month_1 to Month_6 (On-time / Late / Missed)</a:t>
            </a:r>
          </a:p>
          <a:p>
            <a:pPr marL="114300" indent="0">
              <a:buNone/>
            </a:pPr>
            <a:r>
              <a:rPr lang="en-US" sz="1000" dirty="0"/>
              <a:t> </a:t>
            </a:r>
          </a:p>
          <a:p>
            <a:pPr marL="114300" indent="0">
              <a:buNone/>
            </a:pPr>
            <a:r>
              <a:rPr lang="en-IN" sz="1000" dirty="0"/>
              <a:t>2. Decision Logic</a:t>
            </a:r>
          </a:p>
          <a:p>
            <a:r>
              <a:rPr lang="en-US" sz="1000" b="1" dirty="0"/>
              <a:t>Model Predictions</a:t>
            </a:r>
            <a:r>
              <a:rPr lang="en-US" sz="1000" dirty="0"/>
              <a:t>: Predicts risk using ML (e.g., Random Forest)</a:t>
            </a:r>
          </a:p>
          <a:p>
            <a:r>
              <a:rPr lang="en-US" sz="1000" b="1" dirty="0"/>
              <a:t>Business Rules</a:t>
            </a:r>
            <a:r>
              <a:rPr lang="en-US" sz="1000" dirty="0"/>
              <a:t>: Combine thresholds like </a:t>
            </a:r>
            <a:r>
              <a:rPr lang="en-US" sz="1000" dirty="0" err="1"/>
              <a:t>Credit_Score</a:t>
            </a:r>
            <a:r>
              <a:rPr lang="en-US" sz="1000" dirty="0"/>
              <a:t>&lt;50% and Debt-To-income&gt;40%</a:t>
            </a:r>
          </a:p>
          <a:p>
            <a:r>
              <a:rPr lang="en-US" sz="1000" b="1" dirty="0"/>
              <a:t>Hybrid Logic</a:t>
            </a:r>
            <a:r>
              <a:rPr lang="en-US" sz="1000" dirty="0"/>
              <a:t>: Uses both ML output &amp; rule-based filters for action triggers</a:t>
            </a:r>
          </a:p>
          <a:p>
            <a:pPr marL="114300" indent="0">
              <a:buNone/>
            </a:pPr>
            <a:endParaRPr lang="en-US" sz="1000" dirty="0"/>
          </a:p>
          <a:p>
            <a:pPr marL="114300" indent="0">
              <a:buNone/>
            </a:pPr>
            <a:r>
              <a:rPr lang="en-IN" sz="1000" dirty="0"/>
              <a:t>3.Actions Triggered</a:t>
            </a:r>
          </a:p>
          <a:p>
            <a:r>
              <a:rPr lang="en-IN" sz="1000" dirty="0"/>
              <a:t>Fully Automated-                                                                                                    </a:t>
            </a:r>
          </a:p>
          <a:p>
            <a:pPr marL="114300" indent="0">
              <a:buNone/>
            </a:pPr>
            <a:r>
              <a:rPr lang="en-US" sz="1000" dirty="0"/>
              <a:t>                                     Reminder emails/texts for late payments</a:t>
            </a:r>
          </a:p>
          <a:p>
            <a:pPr marL="114300" indent="0">
              <a:buNone/>
            </a:pPr>
            <a:r>
              <a:rPr lang="en-US" sz="1000" dirty="0"/>
              <a:t>                                    App notifications for high credit utilization</a:t>
            </a:r>
          </a:p>
          <a:p>
            <a:r>
              <a:rPr lang="en-US" sz="1000" dirty="0"/>
              <a:t>Human-Reviewed</a:t>
            </a:r>
          </a:p>
          <a:p>
            <a:pPr marL="114300" indent="0">
              <a:buNone/>
            </a:pPr>
            <a:r>
              <a:rPr lang="en-US" sz="1000" dirty="0"/>
              <a:t>                                       Personalized hardship plans for retirees/unemployed</a:t>
            </a:r>
          </a:p>
          <a:p>
            <a:pPr marL="114300" indent="0">
              <a:buNone/>
            </a:pPr>
            <a:r>
              <a:rPr lang="en-US" sz="1000" dirty="0"/>
              <a:t>                                       Credit counselor contact for high-risk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IN" dirty="0"/>
              <a:t>Autonomous vs Human Oversight</a:t>
            </a:r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CC0900-2CA8-04D2-028D-960E8A4BD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506862"/>
              </p:ext>
            </p:extLst>
          </p:nvPr>
        </p:nvGraphicFramePr>
        <p:xfrm>
          <a:off x="1094630" y="2289037"/>
          <a:ext cx="6096000" cy="1854200"/>
        </p:xfrm>
        <a:graphic>
          <a:graphicData uri="http://schemas.openxmlformats.org/drawingml/2006/table">
            <a:tbl>
              <a:tblPr firstRow="1" bandRow="1">
                <a:tableStyleId>{2E584E98-F22C-4E6F-8C55-6CFEC2229C57}</a:tableStyleId>
              </a:tblPr>
              <a:tblGrid>
                <a:gridCol w="3079805">
                  <a:extLst>
                    <a:ext uri="{9D8B030D-6E8A-4147-A177-3AD203B41FA5}">
                      <a16:colId xmlns:a16="http://schemas.microsoft.com/office/drawing/2014/main" val="2548340799"/>
                    </a:ext>
                  </a:extLst>
                </a:gridCol>
                <a:gridCol w="3016195">
                  <a:extLst>
                    <a:ext uri="{9D8B030D-6E8A-4147-A177-3AD203B41FA5}">
                      <a16:colId xmlns:a16="http://schemas.microsoft.com/office/drawing/2014/main" val="2526026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Autonomy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84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Reminder emails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Fully 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788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Payment history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Fully 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345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Personalized interventions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Human-reviewed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87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Hardship 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Human-reviewed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7781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Built-In Safeguards</a:t>
            </a:r>
          </a:p>
          <a:p>
            <a:r>
              <a:rPr lang="en-IN" dirty="0"/>
              <a:t>✅ </a:t>
            </a:r>
            <a:r>
              <a:rPr lang="en-IN" b="1" dirty="0"/>
              <a:t>Fairness Checks</a:t>
            </a:r>
            <a:endParaRPr lang="en-IN" dirty="0"/>
          </a:p>
          <a:p>
            <a:pPr lvl="1"/>
            <a:r>
              <a:rPr lang="en-IN" dirty="0"/>
              <a:t>Monitor false positives across age, income, gender segments</a:t>
            </a:r>
          </a:p>
          <a:p>
            <a:r>
              <a:rPr lang="en-IN" dirty="0"/>
              <a:t>✅ </a:t>
            </a:r>
            <a:r>
              <a:rPr lang="en-IN" b="1" dirty="0"/>
              <a:t>Explainability Tools</a:t>
            </a:r>
            <a:endParaRPr lang="en-IN" dirty="0"/>
          </a:p>
          <a:p>
            <a:pPr lvl="1"/>
            <a:r>
              <a:rPr lang="en-IN" dirty="0"/>
              <a:t>Use SHAP/feature importance to explain risk scores</a:t>
            </a:r>
          </a:p>
          <a:p>
            <a:r>
              <a:rPr lang="en-IN" dirty="0"/>
              <a:t>✅ </a:t>
            </a:r>
            <a:r>
              <a:rPr lang="en-IN" b="1" dirty="0"/>
              <a:t>Regulatory Compliance</a:t>
            </a:r>
            <a:endParaRPr lang="en-IN" dirty="0"/>
          </a:p>
          <a:p>
            <a:pPr lvl="1"/>
            <a:r>
              <a:rPr lang="en-IN" dirty="0"/>
              <a:t>ECOA, GDPR: customer opt-outs, data minimization</a:t>
            </a:r>
          </a:p>
          <a:p>
            <a:r>
              <a:rPr lang="en-IN" dirty="0"/>
              <a:t>✅ </a:t>
            </a:r>
            <a:r>
              <a:rPr lang="en-IN" b="1" dirty="0"/>
              <a:t>Human Oversight</a:t>
            </a:r>
            <a:endParaRPr lang="en-IN" dirty="0"/>
          </a:p>
          <a:p>
            <a:pPr lvl="1"/>
            <a:r>
              <a:rPr lang="en-IN" dirty="0"/>
              <a:t>Flag borderline cases (e.g., low-income but consistent payer) for manual review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Strategic Benefits for </a:t>
            </a:r>
            <a:r>
              <a:rPr lang="en-US" sz="1600" b="1" dirty="0" err="1"/>
              <a:t>Geldium</a:t>
            </a:r>
            <a:endParaRPr lang="en-US" sz="1600" b="1" dirty="0"/>
          </a:p>
          <a:p>
            <a:r>
              <a:rPr lang="en-US" sz="1600" dirty="0"/>
              <a:t>✅ </a:t>
            </a:r>
            <a:r>
              <a:rPr lang="en-US" sz="1600" b="1" dirty="0"/>
              <a:t>Quantitative Outcomes</a:t>
            </a:r>
            <a:endParaRPr lang="en-US" sz="1600" dirty="0"/>
          </a:p>
          <a:p>
            <a:r>
              <a:rPr lang="en-US" sz="1600" dirty="0"/>
              <a:t>25–35% reduction in delinquent accounts</a:t>
            </a:r>
          </a:p>
          <a:p>
            <a:r>
              <a:rPr lang="en-US" sz="1600" dirty="0"/>
              <a:t>20% increase in repayment rates</a:t>
            </a:r>
          </a:p>
          <a:p>
            <a:r>
              <a:rPr lang="en-US" sz="1600" dirty="0"/>
              <a:t>Cost savings via reduced manual interventions</a:t>
            </a:r>
          </a:p>
          <a:p>
            <a:r>
              <a:rPr lang="en-US" sz="1600" dirty="0"/>
              <a:t>✅ </a:t>
            </a:r>
            <a:r>
              <a:rPr lang="en-US" sz="1600" b="1" dirty="0"/>
              <a:t>Qualitative Outcomes</a:t>
            </a:r>
            <a:endParaRPr lang="en-US" sz="1600" dirty="0"/>
          </a:p>
          <a:p>
            <a:r>
              <a:rPr lang="en-US" sz="1600" dirty="0"/>
              <a:t>Greater transparency builds </a:t>
            </a:r>
            <a:r>
              <a:rPr lang="en-US" sz="1600" b="1" dirty="0"/>
              <a:t>customer trust</a:t>
            </a:r>
            <a:endParaRPr lang="en-US" sz="1600" dirty="0"/>
          </a:p>
          <a:p>
            <a:r>
              <a:rPr lang="en-US" sz="1600" dirty="0"/>
              <a:t>Fairness monitoring protects </a:t>
            </a:r>
            <a:r>
              <a:rPr lang="en-US" sz="1600" b="1" dirty="0"/>
              <a:t>brand reputation</a:t>
            </a:r>
            <a:endParaRPr lang="en-US" sz="1600" dirty="0"/>
          </a:p>
          <a:p>
            <a:r>
              <a:rPr lang="en-US" sz="1600" dirty="0"/>
              <a:t>Scalable approach supports </a:t>
            </a:r>
            <a:r>
              <a:rPr lang="en-US" sz="1600" b="1" dirty="0"/>
              <a:t>business growth</a:t>
            </a:r>
            <a:endParaRPr lang="en-US" sz="1600" dirty="0"/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543</Words>
  <Application>Microsoft Office PowerPoint</Application>
  <PresentationFormat>On-screen Show (16:9)</PresentationFormat>
  <Paragraphs>68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Roboto</vt:lpstr>
      <vt:lpstr>Roboto Slab</vt:lpstr>
      <vt:lpstr>Arial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 Jayaram</dc:creator>
  <cp:lastModifiedBy>Sneha Jayaram</cp:lastModifiedBy>
  <cp:revision>3</cp:revision>
  <dcterms:modified xsi:type="dcterms:W3CDTF">2025-07-28T13:53:46Z</dcterms:modified>
</cp:coreProperties>
</file>